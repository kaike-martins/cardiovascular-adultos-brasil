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ke Martins" userId="eeab6ddaeb5a08bb" providerId="LiveId" clId="{C81619C3-6B8A-4C26-A9C5-E8C0E3FD3D50}"/>
    <pc:docChg chg="modSld">
      <pc:chgData name="Kaike Martins" userId="eeab6ddaeb5a08bb" providerId="LiveId" clId="{C81619C3-6B8A-4C26-A9C5-E8C0E3FD3D50}" dt="2026-06-03T23:11:11.991" v="3" actId="14100"/>
      <pc:docMkLst>
        <pc:docMk/>
      </pc:docMkLst>
      <pc:sldChg chg="modSp mod">
        <pc:chgData name="Kaike Martins" userId="eeab6ddaeb5a08bb" providerId="LiveId" clId="{C81619C3-6B8A-4C26-A9C5-E8C0E3FD3D50}" dt="2026-06-03T23:11:11.991" v="3" actId="14100"/>
        <pc:sldMkLst>
          <pc:docMk/>
          <pc:sldMk cId="0" sldId="266"/>
        </pc:sldMkLst>
        <pc:spChg chg="mod">
          <ac:chgData name="Kaike Martins" userId="eeab6ddaeb5a08bb" providerId="LiveId" clId="{C81619C3-6B8A-4C26-A9C5-E8C0E3FD3D50}" dt="2026-06-03T23:10:59.777" v="0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Kaike Martins" userId="eeab6ddaeb5a08bb" providerId="LiveId" clId="{C81619C3-6B8A-4C26-A9C5-E8C0E3FD3D50}" dt="2026-06-03T23:11:03.170" v="1" actId="1410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Kaike Martins" userId="eeab6ddaeb5a08bb" providerId="LiveId" clId="{C81619C3-6B8A-4C26-A9C5-E8C0E3FD3D50}" dt="2026-06-03T23:11:08.609" v="2" actId="14100"/>
          <ac:spMkLst>
            <pc:docMk/>
            <pc:sldMk cId="0" sldId="266"/>
            <ac:spMk id="21" creationId="{00000000-0000-0000-0000-000000000000}"/>
          </ac:spMkLst>
        </pc:spChg>
        <pc:spChg chg="mod">
          <ac:chgData name="Kaike Martins" userId="eeab6ddaeb5a08bb" providerId="LiveId" clId="{C81619C3-6B8A-4C26-A9C5-E8C0E3FD3D50}" dt="2026-06-03T23:11:11.991" v="3" actId="14100"/>
          <ac:spMkLst>
            <pc:docMk/>
            <pc:sldMk cId="0" sldId="266"/>
            <ac:spMk id="2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Óbitos</c:v>
                </c:pt>
              </c:strCache>
            </c:strRef>
          </c:tx>
          <c:spPr>
            <a:ln w="31750" cap="flat">
              <a:solidFill>
                <a:srgbClr val="2B6C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6CB0"/>
              </a:solidFill>
              <a:ln w="9525" cap="flat">
                <a:solidFill>
                  <a:srgbClr val="2B6CB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99825</c:v>
                </c:pt>
                <c:pt idx="1">
                  <c:v>102056</c:v>
                </c:pt>
                <c:pt idx="2">
                  <c:v>100585</c:v>
                </c:pt>
                <c:pt idx="3">
                  <c:v>101473</c:v>
                </c:pt>
                <c:pt idx="4">
                  <c:v>100704</c:v>
                </c:pt>
                <c:pt idx="5">
                  <c:v>102227</c:v>
                </c:pt>
                <c:pt idx="6">
                  <c:v>105672</c:v>
                </c:pt>
                <c:pt idx="7">
                  <c:v>102342</c:v>
                </c:pt>
                <c:pt idx="8">
                  <c:v>101886</c:v>
                </c:pt>
                <c:pt idx="9">
                  <c:v>102164</c:v>
                </c:pt>
                <c:pt idx="10">
                  <c:v>98803</c:v>
                </c:pt>
                <c:pt idx="11">
                  <c:v>104639</c:v>
                </c:pt>
                <c:pt idx="12">
                  <c:v>108133</c:v>
                </c:pt>
                <c:pt idx="13">
                  <c:v>106182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02-474C-B0D9-3823355238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2000"/>
          <c:min val="94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Óbitos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80-4672-89A8-70265FCFE17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80-4672-89A8-70265FCFE17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80-4672-89A8-70265FCFE17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280-4672-89A8-70265FCFE17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280-4672-89A8-70265FCFE17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280-4672-89A8-70265FCFE17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280-4672-89A8-70265FCFE171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A280-4672-89A8-70265FCFE171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A280-4672-89A8-70265FCFE171}"/>
              </c:ext>
            </c:extLst>
          </c:dPt>
          <c:dPt>
            <c:idx val="9"/>
            <c:invertIfNegative val="0"/>
            <c:bubble3D val="0"/>
            <c:spPr>
              <a:solidFill>
                <a:srgbClr val="C53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280-4672-89A8-70265FCFE17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15-19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8546</c:v>
                </c:pt>
                <c:pt idx="1">
                  <c:v>13989</c:v>
                </c:pt>
                <c:pt idx="2">
                  <c:v>21556</c:v>
                </c:pt>
                <c:pt idx="3">
                  <c:v>36346</c:v>
                </c:pt>
                <c:pt idx="4">
                  <c:v>62175</c:v>
                </c:pt>
                <c:pt idx="5">
                  <c:v>104817</c:v>
                </c:pt>
                <c:pt idx="6">
                  <c:v>165361</c:v>
                </c:pt>
                <c:pt idx="7">
                  <c:v>245778</c:v>
                </c:pt>
                <c:pt idx="8">
                  <c:v>338204</c:v>
                </c:pt>
                <c:pt idx="9">
                  <c:v>439919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280-4672-89A8-70265FCFE1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Masculino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15–19</c:v>
                </c:pt>
                <c:pt idx="1">
                  <c:v>20–24</c:v>
                </c:pt>
                <c:pt idx="2">
                  <c:v>25–29</c:v>
                </c:pt>
                <c:pt idx="3">
                  <c:v>30–34</c:v>
                </c:pt>
                <c:pt idx="4">
                  <c:v>35–39</c:v>
                </c:pt>
                <c:pt idx="5">
                  <c:v>40–44</c:v>
                </c:pt>
                <c:pt idx="6">
                  <c:v>45–49</c:v>
                </c:pt>
                <c:pt idx="7">
                  <c:v>50–54</c:v>
                </c:pt>
                <c:pt idx="8">
                  <c:v>55–59</c:v>
                </c:pt>
                <c:pt idx="9">
                  <c:v>60–64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5418</c:v>
                </c:pt>
                <c:pt idx="1">
                  <c:v>8853</c:v>
                </c:pt>
                <c:pt idx="2">
                  <c:v>13538</c:v>
                </c:pt>
                <c:pt idx="3">
                  <c:v>22585</c:v>
                </c:pt>
                <c:pt idx="4">
                  <c:v>37877</c:v>
                </c:pt>
                <c:pt idx="5">
                  <c:v>63170</c:v>
                </c:pt>
                <c:pt idx="6">
                  <c:v>100479</c:v>
                </c:pt>
                <c:pt idx="7">
                  <c:v>154255</c:v>
                </c:pt>
                <c:pt idx="8">
                  <c:v>213284</c:v>
                </c:pt>
                <c:pt idx="9">
                  <c:v>271389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69-47E2-AD4A-748B44BD24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Feminino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15–19</c:v>
                </c:pt>
                <c:pt idx="1">
                  <c:v>20–24</c:v>
                </c:pt>
                <c:pt idx="2">
                  <c:v>25–29</c:v>
                </c:pt>
                <c:pt idx="3">
                  <c:v>30–34</c:v>
                </c:pt>
                <c:pt idx="4">
                  <c:v>35–39</c:v>
                </c:pt>
                <c:pt idx="5">
                  <c:v>40–44</c:v>
                </c:pt>
                <c:pt idx="6">
                  <c:v>45–49</c:v>
                </c:pt>
                <c:pt idx="7">
                  <c:v>50–54</c:v>
                </c:pt>
                <c:pt idx="8">
                  <c:v>55–59</c:v>
                </c:pt>
                <c:pt idx="9">
                  <c:v>60–64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3128</c:v>
                </c:pt>
                <c:pt idx="1">
                  <c:v>5135</c:v>
                </c:pt>
                <c:pt idx="2">
                  <c:v>8017</c:v>
                </c:pt>
                <c:pt idx="3">
                  <c:v>13756</c:v>
                </c:pt>
                <c:pt idx="4">
                  <c:v>24292</c:v>
                </c:pt>
                <c:pt idx="5">
                  <c:v>41639</c:v>
                </c:pt>
                <c:pt idx="6">
                  <c:v>64874</c:v>
                </c:pt>
                <c:pt idx="7">
                  <c:v>91499</c:v>
                </c:pt>
                <c:pt idx="8">
                  <c:v>124899</c:v>
                </c:pt>
                <c:pt idx="9">
                  <c:v>168503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69-47E2-AD4A-748B44BD24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Óbitos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Indígena</c:v>
                </c:pt>
                <c:pt idx="1">
                  <c:v>Amarela</c:v>
                </c:pt>
                <c:pt idx="2">
                  <c:v>Preta</c:v>
                </c:pt>
                <c:pt idx="3">
                  <c:v>Parda</c:v>
                </c:pt>
                <c:pt idx="4">
                  <c:v>Branca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2863</c:v>
                </c:pt>
                <c:pt idx="1">
                  <c:v>5292</c:v>
                </c:pt>
                <c:pt idx="2">
                  <c:v>160676</c:v>
                </c:pt>
                <c:pt idx="3">
                  <c:v>593568</c:v>
                </c:pt>
                <c:pt idx="4">
                  <c:v>626464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14-4C02-A0A9-96A4E0B6E4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Sudeste</c:v>
                </c:pt>
              </c:strCache>
            </c:strRef>
          </c:tx>
          <c:spPr>
            <a:ln w="25400" cap="flat">
              <a:solidFill>
                <a:srgbClr val="C5303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53030"/>
              </a:solidFill>
              <a:ln w="9525" cap="flat">
                <a:solidFill>
                  <a:srgbClr val="C53030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86.97</c:v>
                </c:pt>
                <c:pt idx="1">
                  <c:v>87.06</c:v>
                </c:pt>
                <c:pt idx="2">
                  <c:v>84.5</c:v>
                </c:pt>
                <c:pt idx="3">
                  <c:v>84.67</c:v>
                </c:pt>
                <c:pt idx="4">
                  <c:v>82.78</c:v>
                </c:pt>
                <c:pt idx="5">
                  <c:v>83.51</c:v>
                </c:pt>
                <c:pt idx="6">
                  <c:v>86.34</c:v>
                </c:pt>
                <c:pt idx="7">
                  <c:v>81.37</c:v>
                </c:pt>
                <c:pt idx="8">
                  <c:v>80.739999999999995</c:v>
                </c:pt>
                <c:pt idx="9">
                  <c:v>80.52</c:v>
                </c:pt>
                <c:pt idx="10">
                  <c:v>75.989999999999995</c:v>
                </c:pt>
                <c:pt idx="11">
                  <c:v>80.06</c:v>
                </c:pt>
                <c:pt idx="12">
                  <c:v>82.15</c:v>
                </c:pt>
                <c:pt idx="13">
                  <c:v>79.569999999999993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1B-43A1-96F7-03FE73E290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Sul</c:v>
                </c:pt>
              </c:strCache>
            </c:strRef>
          </c:tx>
          <c:spPr>
            <a:ln w="25400" cap="flat">
              <a:solidFill>
                <a:srgbClr val="2B6C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6CB0"/>
              </a:solidFill>
              <a:ln w="9525" cap="flat">
                <a:solidFill>
                  <a:srgbClr val="2B6CB0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73.94</c:v>
                </c:pt>
                <c:pt idx="1">
                  <c:v>74.56</c:v>
                </c:pt>
                <c:pt idx="2">
                  <c:v>70.34</c:v>
                </c:pt>
                <c:pt idx="3">
                  <c:v>70.63</c:v>
                </c:pt>
                <c:pt idx="4">
                  <c:v>67.900000000000006</c:v>
                </c:pt>
                <c:pt idx="5">
                  <c:v>67.849999999999994</c:v>
                </c:pt>
                <c:pt idx="6">
                  <c:v>69.37</c:v>
                </c:pt>
                <c:pt idx="7">
                  <c:v>65.73</c:v>
                </c:pt>
                <c:pt idx="8">
                  <c:v>64.400000000000006</c:v>
                </c:pt>
                <c:pt idx="9">
                  <c:v>62.89</c:v>
                </c:pt>
                <c:pt idx="10">
                  <c:v>61.71</c:v>
                </c:pt>
                <c:pt idx="11">
                  <c:v>66.33</c:v>
                </c:pt>
                <c:pt idx="12">
                  <c:v>69.5</c:v>
                </c:pt>
                <c:pt idx="13">
                  <c:v>65.16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1B-43A1-96F7-03FE73E290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Centro-Oeste</c:v>
                </c:pt>
              </c:strCache>
            </c:strRef>
          </c:tx>
          <c:spPr>
            <a:ln w="25400" cap="flat">
              <a:solidFill>
                <a:srgbClr val="2C7A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7A7B"/>
              </a:solidFill>
              <a:ln w="9525" cap="flat">
                <a:solidFill>
                  <a:srgbClr val="2C7A7B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72.34</c:v>
                </c:pt>
                <c:pt idx="1">
                  <c:v>71.48</c:v>
                </c:pt>
                <c:pt idx="2">
                  <c:v>71.22</c:v>
                </c:pt>
                <c:pt idx="3">
                  <c:v>71.22</c:v>
                </c:pt>
                <c:pt idx="4">
                  <c:v>67.97</c:v>
                </c:pt>
                <c:pt idx="5">
                  <c:v>66.64</c:v>
                </c:pt>
                <c:pt idx="6">
                  <c:v>65.87</c:v>
                </c:pt>
                <c:pt idx="7">
                  <c:v>65.7</c:v>
                </c:pt>
                <c:pt idx="8">
                  <c:v>65.7</c:v>
                </c:pt>
                <c:pt idx="9">
                  <c:v>63.02</c:v>
                </c:pt>
                <c:pt idx="10">
                  <c:v>64.03</c:v>
                </c:pt>
                <c:pt idx="11">
                  <c:v>69.97</c:v>
                </c:pt>
                <c:pt idx="12">
                  <c:v>69.27</c:v>
                </c:pt>
                <c:pt idx="13">
                  <c:v>66.14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1B-43A1-96F7-03FE73E290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Nordeste</c:v>
                </c:pt>
              </c:strCache>
            </c:strRef>
          </c:tx>
          <c:spPr>
            <a:ln w="25400" cap="flat">
              <a:solidFill>
                <a:srgbClr val="E6A8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A817"/>
              </a:solidFill>
              <a:ln w="9525" cap="flat">
                <a:solidFill>
                  <a:srgbClr val="E6A817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66.34</c:v>
                </c:pt>
                <c:pt idx="1">
                  <c:v>68.489999999999995</c:v>
                </c:pt>
                <c:pt idx="2">
                  <c:v>67.58</c:v>
                </c:pt>
                <c:pt idx="3">
                  <c:v>66.33</c:v>
                </c:pt>
                <c:pt idx="4">
                  <c:v>66.08</c:v>
                </c:pt>
                <c:pt idx="5">
                  <c:v>66.48</c:v>
                </c:pt>
                <c:pt idx="6">
                  <c:v>67.930000000000007</c:v>
                </c:pt>
                <c:pt idx="7">
                  <c:v>66.900000000000006</c:v>
                </c:pt>
                <c:pt idx="8">
                  <c:v>66.180000000000007</c:v>
                </c:pt>
                <c:pt idx="9">
                  <c:v>66.489999999999995</c:v>
                </c:pt>
                <c:pt idx="10">
                  <c:v>64.13</c:v>
                </c:pt>
                <c:pt idx="11">
                  <c:v>66.16</c:v>
                </c:pt>
                <c:pt idx="12">
                  <c:v>68.87</c:v>
                </c:pt>
                <c:pt idx="13">
                  <c:v>69.88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41B-43A1-96F7-03FE73E2905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Norte</c:v>
                </c:pt>
              </c:strCache>
            </c:strRef>
          </c:tx>
          <c:spPr>
            <a:ln w="25400" cap="flat">
              <a:solidFill>
                <a:srgbClr val="7180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18096"/>
              </a:solidFill>
              <a:ln w="9525" cap="flat">
                <a:solidFill>
                  <a:srgbClr val="718096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47.54</c:v>
                </c:pt>
                <c:pt idx="1">
                  <c:v>47.84</c:v>
                </c:pt>
                <c:pt idx="2">
                  <c:v>46.94</c:v>
                </c:pt>
                <c:pt idx="3">
                  <c:v>46.48</c:v>
                </c:pt>
                <c:pt idx="4">
                  <c:v>48.16</c:v>
                </c:pt>
                <c:pt idx="5">
                  <c:v>48.49</c:v>
                </c:pt>
                <c:pt idx="6">
                  <c:v>48.26</c:v>
                </c:pt>
                <c:pt idx="7">
                  <c:v>48.49</c:v>
                </c:pt>
                <c:pt idx="8">
                  <c:v>46.3</c:v>
                </c:pt>
                <c:pt idx="9">
                  <c:v>48.13</c:v>
                </c:pt>
                <c:pt idx="10">
                  <c:v>47.2</c:v>
                </c:pt>
                <c:pt idx="11">
                  <c:v>49.46</c:v>
                </c:pt>
                <c:pt idx="12">
                  <c:v>49.84</c:v>
                </c:pt>
                <c:pt idx="13">
                  <c:v>50.72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41B-43A1-96F7-03FE73E290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Óbitos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30-480B-B061-952D91C6DD6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030-480B-B061-952D91C6DD6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030-480B-B061-952D91C6DD6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030-480B-B061-952D91C6DD6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030-480B-B061-952D91C6DD6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030-480B-B061-952D91C6DD6E}"/>
              </c:ext>
            </c:extLst>
          </c:dPt>
          <c:dPt>
            <c:idx val="6"/>
            <c:invertIfNegative val="0"/>
            <c:bubble3D val="0"/>
            <c:spPr>
              <a:solidFill>
                <a:srgbClr val="2C7A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030-480B-B061-952D91C6DD6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4030-480B-B061-952D91C6DD6E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4030-480B-B061-952D91C6DD6E}"/>
              </c:ext>
            </c:extLst>
          </c:dPt>
          <c:dPt>
            <c:idx val="9"/>
            <c:invertIfNegative val="0"/>
            <c:bubble3D val="0"/>
            <c:spPr>
              <a:solidFill>
                <a:srgbClr val="C53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030-480B-B061-952D91C6DD6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I49 Outras arritmias</c:v>
                </c:pt>
                <c:pt idx="1">
                  <c:v>I12 D. renal hipertensiva</c:v>
                </c:pt>
                <c:pt idx="2">
                  <c:v>I51 Cardiopatias mal def.</c:v>
                </c:pt>
                <c:pt idx="3">
                  <c:v>I26 Embolia pulmonar</c:v>
                </c:pt>
                <c:pt idx="4">
                  <c:v>I11 D. cardíaca hipertensiva</c:v>
                </c:pt>
                <c:pt idx="5">
                  <c:v>I25 D. isquêmica crônica</c:v>
                </c:pt>
                <c:pt idx="6">
                  <c:v>I42 Cardiomiopatias</c:v>
                </c:pt>
                <c:pt idx="7">
                  <c:v>I50 Insuficiência cardíaca</c:v>
                </c:pt>
                <c:pt idx="8">
                  <c:v>I10 Hipertensão essencial</c:v>
                </c:pt>
                <c:pt idx="9">
                  <c:v>I21 Infarto agudo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12480</c:v>
                </c:pt>
                <c:pt idx="1">
                  <c:v>19232</c:v>
                </c:pt>
                <c:pt idx="2">
                  <c:v>22752</c:v>
                </c:pt>
                <c:pt idx="3">
                  <c:v>34540</c:v>
                </c:pt>
                <c:pt idx="4">
                  <c:v>54022</c:v>
                </c:pt>
                <c:pt idx="5">
                  <c:v>64525</c:v>
                </c:pt>
                <c:pt idx="6">
                  <c:v>69890</c:v>
                </c:pt>
                <c:pt idx="7">
                  <c:v>78252</c:v>
                </c:pt>
                <c:pt idx="8">
                  <c:v>92325</c:v>
                </c:pt>
                <c:pt idx="9">
                  <c:v>456123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030-480B-B061-952D91C6DD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Óbitos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97-46EE-A068-5180D8728AEE}"/>
              </c:ext>
            </c:extLst>
          </c:dPt>
          <c:dPt>
            <c:idx val="1"/>
            <c:bubble3D val="0"/>
            <c:spPr>
              <a:solidFill>
                <a:srgbClr val="C53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97-46EE-A068-5180D8728AEE}"/>
              </c:ext>
            </c:extLst>
          </c:dPt>
          <c:dPt>
            <c:idx val="2"/>
            <c:bubble3D val="0"/>
            <c:spPr>
              <a:solidFill>
                <a:srgbClr val="2C7A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97-46EE-A068-5180D8728AEE}"/>
              </c:ext>
            </c:extLst>
          </c:dPt>
          <c:dPt>
            <c:idx val="3"/>
            <c:bubble3D val="0"/>
            <c:spPr>
              <a:solidFill>
                <a:srgbClr val="E6A8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797-46EE-A068-5180D8728AEE}"/>
              </c:ext>
            </c:extLst>
          </c:dPt>
          <c:dPt>
            <c:idx val="4"/>
            <c:bubble3D val="0"/>
            <c:spPr>
              <a:solidFill>
                <a:srgbClr val="7180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797-46EE-A068-5180D8728AE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797-46EE-A068-5180D8728AE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797-46EE-A068-5180D8728AE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797-46EE-A068-5180D8728AE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797-46EE-A068-5180D8728AE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97-46EE-A068-5180D8728AE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Hospital</c:v>
                </c:pt>
                <c:pt idx="1">
                  <c:v>Domicílio</c:v>
                </c:pt>
                <c:pt idx="2">
                  <c:v>Outro estab. saúde</c:v>
                </c:pt>
                <c:pt idx="3">
                  <c:v>Outros</c:v>
                </c:pt>
                <c:pt idx="4">
                  <c:v>Via pública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908326</c:v>
                </c:pt>
                <c:pt idx="1">
                  <c:v>325996</c:v>
                </c:pt>
                <c:pt idx="2">
                  <c:v>123375</c:v>
                </c:pt>
                <c:pt idx="3">
                  <c:v>47603</c:v>
                </c:pt>
                <c:pt idx="4">
                  <c:v>30218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797-46EE-A068-5180D8728A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Óbitos Reais (linha vermelha)</c:v>
                </c:pt>
              </c:strCache>
            </c:strRef>
          </c:tx>
          <c:spPr>
            <a:ln w="31750" cap="flat">
              <a:solidFill>
                <a:srgbClr val="E53E3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3E3E"/>
              </a:solidFill>
              <a:ln w="9525" cap="flat">
                <a:solidFill>
                  <a:srgbClr val="E53E3E"/>
                </a:solidFill>
                <a:prstDash val="solid"/>
                <a:round/>
              </a:ln>
              <a:effectLst/>
            </c:spPr>
          </c:marker>
          <c:dLbls>
            <c:dLbl>
              <c:idx val="10"/>
              <c:layout>
                <c:manualLayout>
                  <c:x val="-5.4177434551450299E-2"/>
                  <c:y val="4.94494590615197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F67-4170-9AD9-50E2FCB5C78A}"/>
                </c:ext>
              </c:extLst>
            </c:dLbl>
            <c:dLbl>
              <c:idx val="11"/>
              <c:layout>
                <c:manualLayout>
                  <c:x val="-3.7804529241537113E-2"/>
                  <c:y val="5.961206068753600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F67-4170-9AD9-50E2FCB5C78A}"/>
                </c:ext>
              </c:extLst>
            </c:dLbl>
            <c:dLbl>
              <c:idx val="1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F67-4170-9AD9-50E2FCB5C78A}"/>
                </c:ext>
              </c:extLst>
            </c:dLbl>
            <c:dLbl>
              <c:idx val="13"/>
              <c:layout>
                <c:manualLayout>
                  <c:x val="-1.2770038360589541E-3"/>
                  <c:y val="-8.60518959520304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F67-4170-9AD9-50E2FCB5C78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99825</c:v>
                </c:pt>
                <c:pt idx="1">
                  <c:v>102056</c:v>
                </c:pt>
                <c:pt idx="2">
                  <c:v>100585</c:v>
                </c:pt>
                <c:pt idx="3">
                  <c:v>101473</c:v>
                </c:pt>
                <c:pt idx="4">
                  <c:v>100704</c:v>
                </c:pt>
                <c:pt idx="5">
                  <c:v>102227</c:v>
                </c:pt>
                <c:pt idx="6">
                  <c:v>105672</c:v>
                </c:pt>
                <c:pt idx="7">
                  <c:v>102342</c:v>
                </c:pt>
                <c:pt idx="8">
                  <c:v>101886</c:v>
                </c:pt>
                <c:pt idx="9">
                  <c:v>102164</c:v>
                </c:pt>
                <c:pt idx="10">
                  <c:v>98803</c:v>
                </c:pt>
                <c:pt idx="11">
                  <c:v>104639</c:v>
                </c:pt>
                <c:pt idx="12">
                  <c:v>108133</c:v>
                </c:pt>
                <c:pt idx="13">
                  <c:v>106182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67-4170-9AD9-50E2FCB5C7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Tendência Esperada (linha cinza tracejada)</c:v>
                </c:pt>
              </c:strCache>
            </c:strRef>
          </c:tx>
          <c:spPr>
            <a:ln w="31750" cap="flat">
              <a:solidFill>
                <a:srgbClr val="A0AE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0AEC0"/>
              </a:solidFill>
              <a:ln w="9525" cap="flat">
                <a:solidFill>
                  <a:srgbClr val="A0AEC0"/>
                </a:solidFill>
                <a:prstDash val="solid"/>
                <a:round/>
              </a:ln>
              <a:effectLst/>
            </c:spPr>
          </c:marker>
          <c:dLbls>
            <c:dLbl>
              <c:idx val="3"/>
              <c:layout>
                <c:manualLayout>
                  <c:x val="-6.5582307019314931E-2"/>
                  <c:y val="-7.2501760450675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F67-4170-9AD9-50E2FCB5C78A}"/>
                </c:ext>
              </c:extLst>
            </c:dLbl>
            <c:dLbl>
              <c:idx val="7"/>
              <c:layout>
                <c:manualLayout>
                  <c:x val="-2.4984016421024373E-2"/>
                  <c:y val="-9.96020314533854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F67-4170-9AD9-50E2FCB5C78A}"/>
                </c:ext>
              </c:extLst>
            </c:dLbl>
            <c:dLbl>
              <c:idx val="8"/>
              <c:layout>
                <c:manualLayout>
                  <c:x val="-6.13088027458107E-2"/>
                  <c:y val="5.62245268121972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F67-4170-9AD9-50E2FCB5C78A}"/>
                </c:ext>
              </c:extLst>
            </c:dLbl>
            <c:dLbl>
              <c:idx val="11"/>
              <c:layout>
                <c:manualLayout>
                  <c:x val="-8.6949828386836264E-2"/>
                  <c:y val="-0.1199272347054179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F67-4170-9AD9-50E2FCB5C78A}"/>
                </c:ext>
              </c:extLst>
            </c:dLbl>
            <c:dLbl>
              <c:idx val="12"/>
              <c:layout>
                <c:manualLayout>
                  <c:x val="-3.6704859008008614E-2"/>
                  <c:y val="-3.69326547596185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16444579043005"/>
                      <c:h val="8.06403772699144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7F67-4170-9AD9-50E2FCB5C78A}"/>
                </c:ext>
              </c:extLst>
            </c:dLbl>
            <c:dLbl>
              <c:idx val="13"/>
              <c:layout>
                <c:manualLayout>
                  <c:x val="-1.2770038360589541E-3"/>
                  <c:y val="5.96120606875359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F67-4170-9AD9-50E2FCB5C78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99825</c:v>
                </c:pt>
                <c:pt idx="1">
                  <c:v>102056</c:v>
                </c:pt>
                <c:pt idx="2">
                  <c:v>100585</c:v>
                </c:pt>
                <c:pt idx="3">
                  <c:v>101473</c:v>
                </c:pt>
                <c:pt idx="4">
                  <c:v>100704</c:v>
                </c:pt>
                <c:pt idx="5">
                  <c:v>102227</c:v>
                </c:pt>
                <c:pt idx="6">
                  <c:v>105672</c:v>
                </c:pt>
                <c:pt idx="7">
                  <c:v>102342</c:v>
                </c:pt>
                <c:pt idx="8">
                  <c:v>101886</c:v>
                </c:pt>
                <c:pt idx="9">
                  <c:v>102164</c:v>
                </c:pt>
                <c:pt idx="10">
                  <c:v>103930</c:v>
                </c:pt>
                <c:pt idx="11">
                  <c:v>104304</c:v>
                </c:pt>
                <c:pt idx="12">
                  <c:v>104679</c:v>
                </c:pt>
                <c:pt idx="13">
                  <c:v>105053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67-4170-9AD9-50E2FCB5C7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2000"/>
          <c:min val="94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77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Cardiovascular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Adultos de 15 a 64 Anos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· 2010–2023 · Uma análise epidemiológica com dados do SIM/DATASUS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8046720" cy="274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Kaike Martins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· FMU São Paulo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linkedin.com/in/kaike-martins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Orientação: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Profa. Luciana Lugli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— Complexo Educacional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SIM/DATASUS — MS/SVSA/CGIAE · Dados atualizados em 02/12/2025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estudar mortalidade cardiovascular em adultos?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invisível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057400"/>
            <a:ext cx="1097280" cy="365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Doenças cardiovasculares são frequentemente associadas a idosos. Em adultos de 15 a 64 anos, a mortalidade cardiovascular é subestimada nos debates de saúde pública.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37560" y="868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expressiva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69080" y="2057400"/>
            <a:ext cx="1097280" cy="365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1,4 milhão de adultos brasileiros morreram de causas cardiovasculares em 14 anos — uma média de 281 mortes por dia em plena idade produtiva.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7772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309360" y="868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5508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para enfermagem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2057400"/>
            <a:ext cx="1097280" cy="365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dessas mortes ocorrem fora do hospital. Reconhecer sinais precoces e conhecer o perfil de risco pode salvar vidas dentro e fora dos serviços de saúde.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SIM/DATASUS · CID-10 Capítulo IX · Brasil 2010–2023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e Fontes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73152" cy="86868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Fonte de óbitos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247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Sistema de Informações sobre Mortalidade (MS/SVSA/CGIAE)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via DATASUS/TabNet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73152" cy="86868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Classificação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305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CID-10 · Capítulo IX — Doenças do Aparelho Circulatório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(categorias cerebrovasculares excluídas da análise por causa específica)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73152" cy="86868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Período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36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a 2023 · 14 anos de dados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finais atualizados em 02/12/2025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73152" cy="86868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Faixa etária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1422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 64 anos · 10 faixas: 15-19, 20-24, 25-29, 30-34, 35-39,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40-44, 45-49, 50-54, 55-59 e 60-64 anos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54880" y="777240"/>
            <a:ext cx="73152" cy="86868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9204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Abrangência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11247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· por Região geográfica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78308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54880" y="1783080"/>
            <a:ext cx="73152" cy="86868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9204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População de referência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1305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— Tabela 7358 · Projeção da População por sexo e idade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 cálculo de taxa por 100 mil habitantes)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78892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754880" y="2788920"/>
            <a:ext cx="73152" cy="86868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9204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Ferramentas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136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Coleta: DATASUS/TabNet · Tratamento: Excel/Power Query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visualização: Excel · Dashboard: Power BI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Geral · Evolução 2010–2023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9202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1.436.691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óbitos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685800"/>
            <a:ext cx="19202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423160" y="7132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281/dia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23160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mortes diárias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685800"/>
            <a:ext cx="19202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0" y="7132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histórico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105.672 óbitos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685800"/>
            <a:ext cx="19202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720840" y="7132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0840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registro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98.803 óbitos</a:t>
            </a:r>
            <a:endParaRPr lang="en-US" sz="9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74320" y="1783080"/>
          <a:ext cx="85953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SIM/DATASUS · CID-10 Cap. IX · Adultos 15-64 anos · Nota: eixo Y iniciando em 94.000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 esses adultos? · Distribuição por Faixa Etária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685800"/>
            <a:ext cx="2468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400800" y="685800"/>
            <a:ext cx="24688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46520" y="713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138160" y="7132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1115568"/>
            <a:ext cx="2468880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46520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15–19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0" y="1143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0" y="1463040"/>
            <a:ext cx="2468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446520" y="1490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72400" y="14904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0" y="1810512"/>
            <a:ext cx="2468880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46520" y="18379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25–29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72400" y="18379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0" y="2157984"/>
            <a:ext cx="2468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446520" y="2185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30–34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772400" y="21854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2,5%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00800" y="2505456"/>
            <a:ext cx="2468880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446520" y="2532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35–39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772400" y="2532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00800" y="2852928"/>
            <a:ext cx="2468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446520" y="2880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40–44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772400" y="28803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7,3%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00800" y="3200400"/>
            <a:ext cx="2468880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6446520" y="32278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45–49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3227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400800" y="3547872"/>
            <a:ext cx="2468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446520" y="35753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50–54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772400" y="35753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17,1%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00800" y="3895344"/>
            <a:ext cx="2468880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6446520" y="39227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55–59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772400" y="39227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23,5%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400800" y="4242816"/>
            <a:ext cx="2468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6446520" y="4270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60–64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772400" y="4270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30,6%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SIM/DATASUS · CID-10 Cap. IX · Brasil 2010–2023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por Sexo · Distribuição por Faixa Etária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68580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400800" y="685800"/>
            <a:ext cx="24688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46520" y="7132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223760" y="7132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01000" y="7132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0" y="1115568"/>
            <a:ext cx="2468880" cy="24688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446520" y="11338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1338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63,4%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01000" y="11338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36,6%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1389888"/>
            <a:ext cx="24688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446520" y="140817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223760" y="140817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63,3%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01000" y="140817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36,7%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0" y="1664208"/>
            <a:ext cx="2468880" cy="24688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446520" y="1682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25–29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23760" y="1682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62,8%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01000" y="1682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37,2%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0" y="1938528"/>
            <a:ext cx="24688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446520" y="19568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223760" y="19568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01000" y="19568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37,9%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00800" y="2212848"/>
            <a:ext cx="2468880" cy="24688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6446520" y="22311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35–39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223760" y="22311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60,9%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001000" y="22311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39,1%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400800" y="2487168"/>
            <a:ext cx="24688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446520" y="25054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40–44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223760" y="25054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60,3%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001000" y="25054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39,7%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400800" y="2761488"/>
            <a:ext cx="2468880" cy="24688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6446520" y="277977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45–49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223760" y="277977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60,8%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001000" y="277977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39,2%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00800" y="3035808"/>
            <a:ext cx="24688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6446520" y="30540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50–54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223760" y="30540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62,8%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01000" y="30540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37,2%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400800" y="3310128"/>
            <a:ext cx="2468880" cy="24688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6446520" y="33284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55–59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223760" y="33284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001000" y="33284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36,9%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400800" y="3584448"/>
            <a:ext cx="24688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6446520" y="36027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223760" y="36027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61,7%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8001000" y="36027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38,3%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400800" y="4114800"/>
            <a:ext cx="2468880" cy="77724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8"/>
          <p:cNvSpPr/>
          <p:nvPr/>
        </p:nvSpPr>
        <p:spPr>
          <a:xfrm>
            <a:off x="6492240" y="418795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feminina é maior entre 35-50 anos, possivelmente relacionada a doenças hipertensivas e tromboembólicas nessa fase.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SIM/DATASUS · CID-10 Cap. IX · Brasil 2010–2023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Raça/Cor · Valores Absolutos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685800"/>
            <a:ext cx="2468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400800" y="685800"/>
            <a:ext cx="24688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92240" y="749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46520" y="11155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78040" y="11155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626.464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18120" y="11155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43,6%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6520" y="15179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Parda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78040" y="151790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593.568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18120" y="15179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41,3%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46520" y="1920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78040" y="19202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160.676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818120" y="1920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46520" y="23225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78040" y="232257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5.292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818120" y="23225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27249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Indígena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178040" y="272491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2.863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818120" y="27249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0,2%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0" y="3383280"/>
            <a:ext cx="2468880" cy="150876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492240" y="3456432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Valores absolutos refletem a composição racial da população brasileira. Para identificar desigualdades reais no risco, seria necessária a taxa por 100 mil por raça.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SIM/DATASUS · Ignorado excluído · Brasil 2010–2023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Regional · Taxa por 100 mil Habitantes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6217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685800"/>
            <a:ext cx="21945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766560" y="7498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média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2010–2023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766560" y="12984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Sudeste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12984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Sul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68,9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21762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C-Oeste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21762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26151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 Nordeste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261518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30540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5º Norte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0" y="30540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75120" y="3749040"/>
            <a:ext cx="2194560" cy="109728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766560" y="382219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Sudeste lidera com 82 óbitos por 100 mil — o Norte registra a menor taxa com 48, possivelmente refletindo diferenças no acesso ao diagnóstico.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SIM/DATASUS + IBGE Tabela 7358 · Taxa por 100 mil adultos de 15-64 anos · Brasil 2010–2023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mata esses adultos? · Top 10 Causas (CID-10)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6400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6858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858000" y="685800"/>
            <a:ext cx="64008" cy="12801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967728" y="731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I21 · 31,7%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67728" y="10332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um terço de todos os óbitos. Em adultos jovens pode ser por drogas ou anomalia; em adultos mais velhos, aterosclerose.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0" y="210312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858000" y="2103120"/>
            <a:ext cx="64008" cy="12801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967728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I10 · 6,4%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67728" y="245059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Hipertensão como causa básica — reflete o peso das doenças crônicas nessa faixa etária mais ampla.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58000" y="35204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858000" y="3520440"/>
            <a:ext cx="64008" cy="12801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967728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I42 · 4,9%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67728" y="38679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Cardiomiopatias — causa clássica de morte súbita, especialmente em adultos jovens e atletas.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SIM/DATASUS · CID-10 Cap. IX · Categorias cerebrovasculares excluídas · Brasil 2010–2023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morrem? · Local de Ocorrência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685800"/>
          <a:ext cx="5029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685800"/>
            <a:ext cx="3200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760720" y="749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local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60720" y="1170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0" y="11704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908.326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11704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63,2%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60720" y="15727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Domicílio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49440" y="15727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325.996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1572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19751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estab.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49440" y="19751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123.375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0" y="19751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2377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49440" y="2377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47.603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2377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60720" y="27797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pública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49440" y="27797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30.218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27797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3383280"/>
            <a:ext cx="3200400" cy="150876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760720" y="345643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das mortes
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ocorrem fora do hospital — adultos que não chegaram a receber atendimento de emergência a tempo.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SIM/DATASUS · Local de constatação do óbito · Brasil 2010–2023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da Pandemia · Real vs. Tendência Esperada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80963615"/>
              </p:ext>
            </p:extLst>
          </p:nvPr>
        </p:nvGraphicFramePr>
        <p:xfrm>
          <a:off x="274320" y="685800"/>
          <a:ext cx="5943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685800"/>
            <a:ext cx="25146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446520" y="7498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7498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52360" y="7498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110728" y="74980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0" y="1115568"/>
            <a:ext cx="2514600" cy="402336"/>
          </a:xfrm>
          <a:prstGeom prst="rect">
            <a:avLst/>
          </a:prstGeom>
          <a:solidFill>
            <a:srgbClr val="EBF8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446520" y="1170432"/>
            <a:ext cx="509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0" y="1170432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98.803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52360" y="1170432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103.930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110728" y="117043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-5.127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0" y="1554480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46520" y="1609344"/>
            <a:ext cx="509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160934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104.639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52360" y="16093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104.304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110728" y="160934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0" y="1993392"/>
            <a:ext cx="251460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446520" y="2048256"/>
            <a:ext cx="509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58000" y="2048256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108.133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52360" y="2048256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104.679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110728" y="204825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+3.454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00800" y="2432304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6446520" y="2487168"/>
            <a:ext cx="509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58000" y="2487168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106.182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452360" y="248716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105.053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110728" y="248716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+1.129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0" y="2944368"/>
            <a:ext cx="2514600" cy="150876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492240" y="30175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negativa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menos mortes do que o esperado
</a:t>
            </a: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positiva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mais mortes do que o esperado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eixo Y iniciando em 94.000 · Tendência baseada em regressão linear 2010–2019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· O que os dados nos dizem?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411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real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17043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milhão de adultos mortos em 14 anos — 281 por dia. É um problema de saúde pública com impacto direto sobre a população em idade produtiva.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731520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754880" y="731520"/>
            <a:ext cx="41148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0" y="731520"/>
            <a:ext cx="411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8229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cresce com a idade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17043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faixa de 60-64 anos concentra 30,6% dos óbitos. O risco aumenta exponencialmente a partir dos 40 anos, reforçando a importância da prevenção precoce.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1148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74320" y="2148840"/>
            <a:ext cx="411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22402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Infarto lidera com folga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58775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I21 (infarto) representa 31,7% de todos os óbitos — quase um terço do total. Hipertensão e insuficiência cardíaca aparecem em seguida.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1148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754880" y="2148840"/>
            <a:ext cx="411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7800" y="22402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é determinante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58775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morrem fora do hospital. O Sudeste tem a maior taxa por 100 mil, o Norte a menor. O sistema de emergência não chega a tempo para todos.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1148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74320" y="3566160"/>
            <a:ext cx="411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3657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 deixou marca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00507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5.127 casos em 2020 seguida de excesso de 3.454 em 2022 — possível efeito residual da COVID-19 na saúde cardiovascular.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1148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411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57800" y="3657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para enfermagem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400507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Rastrear fatores de risco a partir dos 40 anos, reconhecer sinais precoces e acionar rapidamente o sistema de emergência pode salvar vidas.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 Metodológicas e Limitações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64008" cy="9601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758952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no formulário da Declaração de Óbito em 2011 — variações entre 2010-2011 podem ser metodológicas, não epidemiológicas reais.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64008" cy="9601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Capítulo IX do CID-10 inclui todas as doenças circulatórias — nem toda morte representa evento agudo súbito.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816352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74320" y="2816352"/>
            <a:ext cx="64008" cy="9601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2862072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cerebrovasculares (I60, I61, I63, I64, I67, I69) e I71 (aneurisma da aorta) foram excluídas da análise por causa específica.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867912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74320" y="3867912"/>
            <a:ext cx="64008" cy="9601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11480" y="3913632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absolutos por região refletem tamanho populacional. A taxa por 100 mil foi calculada com dados do IBGE (Tabela 7358).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713232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54880" y="713232"/>
            <a:ext cx="64008" cy="9601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92040" y="758952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 ocorrência registra onde o óbito foi constatado, não onde o evento cardiovascular iniciou.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764792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754880" y="1764792"/>
            <a:ext cx="64008" cy="9601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92040" y="1810512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Raça/Cor em óbitos súbitos é preenchida por terceiros — pode introduzir viés na distinção entre Parda e Preta.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816352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754880" y="2816352"/>
            <a:ext cx="64008" cy="9601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92040" y="2862072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impacto da pandemia usa regressão linear 2010-2019 como base — inferências sobre causalidade são hipóteses plausíveis, não conclusões definitivas.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867912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754880" y="3867912"/>
            <a:ext cx="64008" cy="9601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92040" y="3913632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I21 em adultos jovens (15-34) tem causas diferentes do I21 em adultos mais velhos (35-64) — o SIM registra o evento, não a causa subjacente.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e Fontes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274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Sistema de Informações sobre Mortalidade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da Saúde · SVSA/CGIAE · Acesso via DATASUS/TabNet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datasus.saude.gov.br · Dados atualizados em 02/12/2025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CID-10 — Classificação Internacional de Doenças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IX — Doenças do Aparelho Circulatório (I00–I99)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Pan-Americana da Saúde (OPAS/OMS)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— Projeção da População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7358 · População por sexo e grupos de idade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SIDRA — Sistema IBGE de Recuperação Automática · sidra.ibge.gov.br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análise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(Power Query) · Power BI · PowerPoint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disponível em: linkedin.com/in/kaike-martins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Kaike Martins · Ciência de Dados · FMU São Paulo · linkedin.com/in/kaike-martins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1458</Words>
  <Application>Microsoft Office PowerPoint</Application>
  <PresentationFormat>Apresentação na tela (16:9)</PresentationFormat>
  <Paragraphs>273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Mortalidade Cardiovascular em Adultos de 15 a 64 Anos — Brasil 2010-2023</dc:title>
  <dc:subject>PptxGenJS Presentation</dc:subject>
  <dc:creator>Kaike Martins</dc:creator>
  <cp:lastModifiedBy>KAIKE MARTINS PEREIRA</cp:lastModifiedBy>
  <cp:revision>2</cp:revision>
  <dcterms:created xsi:type="dcterms:W3CDTF">2026-06-03T22:48:42Z</dcterms:created>
  <dcterms:modified xsi:type="dcterms:W3CDTF">2026-06-03T23:11:15Z</dcterms:modified>
</cp:coreProperties>
</file>